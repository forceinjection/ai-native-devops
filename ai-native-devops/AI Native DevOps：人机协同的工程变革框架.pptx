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3" r:id="rId4"/>
    <p:sldId id="258" r:id="rId5"/>
    <p:sldId id="259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6256000" cy="9144000"/>
  <p:notesSz cx="9144000" cy="16256000"/>
  <p:embeddedFontLst>
    <p:embeddedFont>
      <p:font typeface="FangSong" panose="02010609060101010101" pitchFamily="49" charset="-122"/>
      <p:regular r:id="rId20"/>
    </p:embeddedFont>
    <p:embeddedFont>
      <p:font typeface="Liter" panose="02000503030000020004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90" d="100"/>
          <a:sy n="90" d="100"/>
        </p:scale>
        <p:origin x="4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92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46u54tcs7yz4/mnt/agents/output/ai-native-devops/images/2_Abstract_Dark_Blue_Technology_Background.png"/>
          <p:cNvPicPr>
            <a:picLocks noChangeAspect="1"/>
          </p:cNvPicPr>
          <p:nvPr/>
        </p:nvPicPr>
        <p:blipFill>
          <a:blip r:embed="rId3"/>
          <a:srcRect l="194" r="1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4000"/>
                </a:srgbClr>
              </a:gs>
              <a:gs pos="55000">
                <a:srgbClr val="0F1419">
                  <a:alpha val="82000"/>
                </a:srgbClr>
              </a:gs>
              <a:gs pos="100000">
                <a:srgbClr val="0F1419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1016000" y="2540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PROPOSAL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6000" y="29845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Native DevOps</a:t>
            </a:r>
            <a:endParaRPr lang="en-US" sz="4800" dirty="0"/>
          </a:p>
          <a:p>
            <a:pPr>
              <a:lnSpc>
                <a:spcPct val="125000"/>
              </a:lnSpc>
            </a:pPr>
            <a:r>
              <a:rPr lang="en-US" sz="4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人机协同的工程变革框架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16000" y="4826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</a:t>
            </a: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</a:t>
            </a:r>
            <a:r>
              <a:rPr lang="en-US" sz="18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为增强器的</a:t>
            </a: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DevOps </a:t>
            </a:r>
            <a:r>
              <a:rPr lang="en-US" sz="18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流程升级与治理体系建设方案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6000" y="5778500"/>
            <a:ext cx="1016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16000" y="6032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FangSong" panose="02010609060101010101" pitchFamily="49" charset="-122"/>
                <a:ea typeface="FangSong" panose="02010609060101010101" pitchFamily="49" charset="-122"/>
                <a:cs typeface="Liter" pitchFamily="34" charset="-120"/>
              </a:rPr>
              <a:t>2026年5月</a:t>
            </a:r>
            <a:endParaRPr lang="en-US" sz="13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汇报纲要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3429000" cy="6223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79500" y="228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3175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战略定位与核心价值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683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为什么需要AI Native DevOps？核心设计原则与8阶段全景概览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" y="736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08500" y="1968500"/>
            <a:ext cx="3429000" cy="6223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26000" y="228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175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框架设计与能力蓝图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3683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8阶段能力成熟度分析、缺口识别与5层目标架构设计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26000" y="736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255000" y="1968500"/>
            <a:ext cx="3429000" cy="6223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72500" y="228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3175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实施路线与里程碑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3683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分阶段落地路径、优先级排序与4大关键里程碑规划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72500" y="736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721" y="25400"/>
                </a:moveTo>
                <a:lnTo>
                  <a:pt x="117237" y="25400"/>
                </a:lnTo>
                <a:cubicBezTo>
                  <a:pt x="93901" y="25400"/>
                  <a:pt x="73501" y="41354"/>
                  <a:pt x="67945" y="63976"/>
                </a:cubicBezTo>
                <a:lnTo>
                  <a:pt x="1111" y="333772"/>
                </a:lnTo>
                <a:cubicBezTo>
                  <a:pt x="-4842" y="357743"/>
                  <a:pt x="13335" y="381000"/>
                  <a:pt x="38100" y="381000"/>
                </a:cubicBezTo>
                <a:lnTo>
                  <a:pt x="177721" y="381000"/>
                </a:lnTo>
                <a:lnTo>
                  <a:pt x="177721" y="330200"/>
                </a:lnTo>
                <a:cubicBezTo>
                  <a:pt x="177721" y="316151"/>
                  <a:pt x="189071" y="304800"/>
                  <a:pt x="203121" y="304800"/>
                </a:cubicBezTo>
                <a:cubicBezTo>
                  <a:pt x="217170" y="304800"/>
                  <a:pt x="228521" y="316151"/>
                  <a:pt x="228521" y="330200"/>
                </a:cubicBezTo>
                <a:lnTo>
                  <a:pt x="228521" y="381000"/>
                </a:lnTo>
                <a:lnTo>
                  <a:pt x="368300" y="381000"/>
                </a:lnTo>
                <a:cubicBezTo>
                  <a:pt x="393065" y="381000"/>
                  <a:pt x="411242" y="357743"/>
                  <a:pt x="405289" y="333772"/>
                </a:cubicBezTo>
                <a:lnTo>
                  <a:pt x="338534" y="63976"/>
                </a:lnTo>
                <a:cubicBezTo>
                  <a:pt x="332899" y="41354"/>
                  <a:pt x="312579" y="25400"/>
                  <a:pt x="289163" y="25400"/>
                </a:cubicBezTo>
                <a:lnTo>
                  <a:pt x="228521" y="25400"/>
                </a:lnTo>
                <a:lnTo>
                  <a:pt x="228521" y="76200"/>
                </a:lnTo>
                <a:cubicBezTo>
                  <a:pt x="228521" y="90249"/>
                  <a:pt x="217170" y="101600"/>
                  <a:pt x="203121" y="101600"/>
                </a:cubicBezTo>
                <a:cubicBezTo>
                  <a:pt x="189071" y="101600"/>
                  <a:pt x="177721" y="90249"/>
                  <a:pt x="177721" y="76200"/>
                </a:cubicBezTo>
                <a:lnTo>
                  <a:pt x="177721" y="25400"/>
                </a:lnTo>
                <a:close/>
                <a:moveTo>
                  <a:pt x="228521" y="177800"/>
                </a:moveTo>
                <a:lnTo>
                  <a:pt x="228521" y="228600"/>
                </a:lnTo>
                <a:cubicBezTo>
                  <a:pt x="228521" y="242649"/>
                  <a:pt x="217170" y="254000"/>
                  <a:pt x="203121" y="254000"/>
                </a:cubicBezTo>
                <a:cubicBezTo>
                  <a:pt x="189071" y="254000"/>
                  <a:pt x="177721" y="242649"/>
                  <a:pt x="177721" y="228600"/>
                </a:cubicBezTo>
                <a:lnTo>
                  <a:pt x="177721" y="177800"/>
                </a:lnTo>
                <a:cubicBezTo>
                  <a:pt x="177721" y="163751"/>
                  <a:pt x="189071" y="152400"/>
                  <a:pt x="203121" y="152400"/>
                </a:cubicBezTo>
                <a:cubicBezTo>
                  <a:pt x="217170" y="152400"/>
                  <a:pt x="228521" y="163751"/>
                  <a:pt x="228521" y="17780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2001500" y="1968500"/>
            <a:ext cx="3429000" cy="6223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319000" y="228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0" y="3175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治理机制与价值度量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19000" y="3683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人机协同治理框架、分级发布策略与四维价值度量体系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19000" y="736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B76B0A-21F9-255E-C18B-8B55C2679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41"/>
            <a:ext cx="16256000" cy="907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6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okc/346u54tcs7yz4/mnt/agents/output/ai-native-devops/images/7_Abstract_futuristic_digital_and_technology.png"/>
          <p:cNvPicPr>
            <a:picLocks noChangeAspect="1"/>
          </p:cNvPicPr>
          <p:nvPr/>
        </p:nvPicPr>
        <p:blipFill>
          <a:blip r:embed="rId3"/>
          <a:srcRect l="20351" r="20351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1000"/>
                </a:srgbClr>
              </a:gs>
              <a:gs pos="35000">
                <a:srgbClr val="0F1419">
                  <a:alpha val="50000"/>
                </a:srgbClr>
              </a:gs>
              <a:gs pos="100000">
                <a:srgbClr val="0F1419">
                  <a:alpha val="1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7465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16000" y="4000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战略定位与核心价值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5999" y="4826000"/>
            <a:ext cx="507999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 err="1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为什么需要</a:t>
            </a: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Native DevOps？它将带来什么战略价值？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战略定位与核心价值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AI不是替代工程师，而是增强全流程能力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4699000" cy="3175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50800" cy="3175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4575" y="187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94191" y="21530"/>
                </a:moveTo>
                <a:cubicBezTo>
                  <a:pt x="184398" y="7987"/>
                  <a:pt x="168702" y="0"/>
                  <a:pt x="152033" y="0"/>
                </a:cubicBezTo>
                <a:cubicBezTo>
                  <a:pt x="123279" y="0"/>
                  <a:pt x="100013" y="23267"/>
                  <a:pt x="100013" y="52020"/>
                </a:cubicBezTo>
                <a:lnTo>
                  <a:pt x="100013" y="53687"/>
                </a:lnTo>
                <a:cubicBezTo>
                  <a:pt x="100013" y="98415"/>
                  <a:pt x="156964" y="146338"/>
                  <a:pt x="184884" y="167104"/>
                </a:cubicBezTo>
                <a:cubicBezTo>
                  <a:pt x="193913" y="173841"/>
                  <a:pt x="206067" y="173841"/>
                  <a:pt x="215096" y="167104"/>
                </a:cubicBezTo>
                <a:cubicBezTo>
                  <a:pt x="243016" y="146268"/>
                  <a:pt x="299968" y="98415"/>
                  <a:pt x="299968" y="53687"/>
                </a:cubicBezTo>
                <a:lnTo>
                  <a:pt x="299968" y="52020"/>
                </a:lnTo>
                <a:cubicBezTo>
                  <a:pt x="299968" y="23267"/>
                  <a:pt x="276701" y="0"/>
                  <a:pt x="247948" y="0"/>
                </a:cubicBezTo>
                <a:cubicBezTo>
                  <a:pt x="231279" y="0"/>
                  <a:pt x="215583" y="7987"/>
                  <a:pt x="205790" y="21530"/>
                </a:cubicBezTo>
                <a:lnTo>
                  <a:pt x="200025" y="29656"/>
                </a:lnTo>
                <a:lnTo>
                  <a:pt x="194191" y="21530"/>
                </a:lnTo>
                <a:close/>
                <a:moveTo>
                  <a:pt x="75912" y="237182"/>
                </a:moveTo>
                <a:lnTo>
                  <a:pt x="46325" y="266700"/>
                </a:lnTo>
                <a:lnTo>
                  <a:pt x="22225" y="266700"/>
                </a:lnTo>
                <a:cubicBezTo>
                  <a:pt x="9932" y="266700"/>
                  <a:pt x="0" y="276632"/>
                  <a:pt x="0" y="288925"/>
                </a:cubicBezTo>
                <a:lnTo>
                  <a:pt x="0" y="333375"/>
                </a:lnTo>
                <a:cubicBezTo>
                  <a:pt x="0" y="345668"/>
                  <a:pt x="9932" y="355600"/>
                  <a:pt x="22225" y="355600"/>
                </a:cubicBezTo>
                <a:lnTo>
                  <a:pt x="244822" y="355600"/>
                </a:lnTo>
                <a:cubicBezTo>
                  <a:pt x="264964" y="355600"/>
                  <a:pt x="284619" y="349141"/>
                  <a:pt x="300871" y="337195"/>
                </a:cubicBezTo>
                <a:lnTo>
                  <a:pt x="388799" y="272395"/>
                </a:lnTo>
                <a:cubicBezTo>
                  <a:pt x="401161" y="263297"/>
                  <a:pt x="403800" y="245934"/>
                  <a:pt x="394702" y="233571"/>
                </a:cubicBezTo>
                <a:cubicBezTo>
                  <a:pt x="385604" y="221208"/>
                  <a:pt x="368240" y="218569"/>
                  <a:pt x="355878" y="227667"/>
                </a:cubicBezTo>
                <a:lnTo>
                  <a:pt x="272673" y="288925"/>
                </a:lnTo>
                <a:lnTo>
                  <a:pt x="194469" y="288925"/>
                </a:lnTo>
                <a:cubicBezTo>
                  <a:pt x="185231" y="288925"/>
                  <a:pt x="177800" y="281494"/>
                  <a:pt x="177800" y="272256"/>
                </a:cubicBezTo>
                <a:cubicBezTo>
                  <a:pt x="177800" y="263019"/>
                  <a:pt x="185231" y="255587"/>
                  <a:pt x="194469" y="255587"/>
                </a:cubicBezTo>
                <a:lnTo>
                  <a:pt x="244475" y="255587"/>
                </a:lnTo>
                <a:cubicBezTo>
                  <a:pt x="256768" y="255587"/>
                  <a:pt x="266700" y="245656"/>
                  <a:pt x="266700" y="233363"/>
                </a:cubicBezTo>
                <a:cubicBezTo>
                  <a:pt x="266700" y="221069"/>
                  <a:pt x="256768" y="211138"/>
                  <a:pt x="244475" y="211138"/>
                </a:cubicBezTo>
                <a:lnTo>
                  <a:pt x="138767" y="211138"/>
                </a:lnTo>
                <a:cubicBezTo>
                  <a:pt x="115223" y="211138"/>
                  <a:pt x="92581" y="220514"/>
                  <a:pt x="75912" y="237182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66800" y="23622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增强而非替代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794000"/>
            <a:ext cx="4089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AI主要用于生成草稿、提供候选方案、执行自动分析与触发自动化验证，不直接替代关键业务与工程决策。最终决策始终由人工Owner承担。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3175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778500" y="1587500"/>
            <a:ext cx="50800" cy="3175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083300" y="187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83300" y="23622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阶段化参与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3300" y="2794000"/>
            <a:ext cx="4089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每个阶段标注AI参与程度——"生成草稿""提供候选""自动校验""人工审核后采纳"，确保人机边界清晰可控。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587500"/>
            <a:ext cx="4699000" cy="3175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795000" y="1587500"/>
            <a:ext cx="50800" cy="3175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055350" y="1879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94456" y="88900"/>
                </a:moveTo>
                <a:cubicBezTo>
                  <a:pt x="94456" y="42901"/>
                  <a:pt x="131801" y="5556"/>
                  <a:pt x="177800" y="5556"/>
                </a:cubicBezTo>
                <a:cubicBezTo>
                  <a:pt x="223799" y="5556"/>
                  <a:pt x="261144" y="42901"/>
                  <a:pt x="261144" y="88900"/>
                </a:cubicBezTo>
                <a:cubicBezTo>
                  <a:pt x="261144" y="134899"/>
                  <a:pt x="223799" y="172244"/>
                  <a:pt x="177800" y="172244"/>
                </a:cubicBezTo>
                <a:cubicBezTo>
                  <a:pt x="131801" y="172244"/>
                  <a:pt x="94456" y="134899"/>
                  <a:pt x="94456" y="88900"/>
                </a:cubicBezTo>
                <a:close/>
                <a:moveTo>
                  <a:pt x="33337" y="334972"/>
                </a:moveTo>
                <a:cubicBezTo>
                  <a:pt x="33337" y="266561"/>
                  <a:pt x="88761" y="211138"/>
                  <a:pt x="157172" y="211138"/>
                </a:cubicBezTo>
                <a:lnTo>
                  <a:pt x="198428" y="211138"/>
                </a:lnTo>
                <a:cubicBezTo>
                  <a:pt x="266839" y="211138"/>
                  <a:pt x="322263" y="266561"/>
                  <a:pt x="322263" y="334972"/>
                </a:cubicBezTo>
                <a:cubicBezTo>
                  <a:pt x="322263" y="346363"/>
                  <a:pt x="313025" y="355600"/>
                  <a:pt x="301635" y="355600"/>
                </a:cubicBezTo>
                <a:lnTo>
                  <a:pt x="53965" y="355600"/>
                </a:lnTo>
                <a:cubicBezTo>
                  <a:pt x="42575" y="355600"/>
                  <a:pt x="33337" y="346363"/>
                  <a:pt x="33337" y="334972"/>
                </a:cubicBezTo>
                <a:close/>
                <a:moveTo>
                  <a:pt x="425331" y="92164"/>
                </a:moveTo>
                <a:lnTo>
                  <a:pt x="369768" y="181064"/>
                </a:lnTo>
                <a:cubicBezTo>
                  <a:pt x="366851" y="185718"/>
                  <a:pt x="361851" y="188635"/>
                  <a:pt x="356364" y="188913"/>
                </a:cubicBezTo>
                <a:cubicBezTo>
                  <a:pt x="350877" y="189190"/>
                  <a:pt x="345599" y="186690"/>
                  <a:pt x="342334" y="182245"/>
                </a:cubicBezTo>
                <a:lnTo>
                  <a:pt x="308997" y="137795"/>
                </a:lnTo>
                <a:cubicBezTo>
                  <a:pt x="303441" y="130433"/>
                  <a:pt x="304969" y="120015"/>
                  <a:pt x="312331" y="114459"/>
                </a:cubicBezTo>
                <a:cubicBezTo>
                  <a:pt x="319693" y="108903"/>
                  <a:pt x="330111" y="110430"/>
                  <a:pt x="335667" y="117793"/>
                </a:cubicBezTo>
                <a:lnTo>
                  <a:pt x="354419" y="142796"/>
                </a:lnTo>
                <a:lnTo>
                  <a:pt x="397064" y="74523"/>
                </a:lnTo>
                <a:cubicBezTo>
                  <a:pt x="401925" y="66744"/>
                  <a:pt x="412204" y="64314"/>
                  <a:pt x="420053" y="69245"/>
                </a:cubicBezTo>
                <a:cubicBezTo>
                  <a:pt x="427901" y="74176"/>
                  <a:pt x="430262" y="84386"/>
                  <a:pt x="425331" y="92234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099800" y="23622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人工交接明确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99800" y="2794000"/>
            <a:ext cx="4089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PRD、用户旅程、领域模型、OpenSpec、上线结论等关键资产，只有经过人工确认后才能进入下一阶段。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63900" y="5080000"/>
            <a:ext cx="4699000" cy="3175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63900" y="5080000"/>
            <a:ext cx="50800" cy="3175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590925" y="5372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568700" y="58547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唯一事实源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68700" y="6286500"/>
            <a:ext cx="4089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AI与人都围绕同一份docs/、openspec/与工程代码工作，避免对话上下文与仓库状态不一致。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5080000"/>
            <a:ext cx="4699000" cy="3175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280400" y="5080000"/>
            <a:ext cx="50800" cy="3175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85200" y="537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85200" y="58547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可验证优先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200" y="6286500"/>
            <a:ext cx="4089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任何AI生成内容都应转化为可验证工件——测试、契约、规范差分、审计记录与漂移报告。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okc/346u54tcs7yz4/mnt/agents/output/ai-native-devops/images/6_Futuristic_technology_blue_abstract.png"/>
          <p:cNvPicPr>
            <a:picLocks noChangeAspect="1"/>
          </p:cNvPicPr>
          <p:nvPr/>
        </p:nvPicPr>
        <p:blipFill>
          <a:blip r:embed="rId3"/>
          <a:srcRect l="23333" r="23333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1000"/>
                </a:srgbClr>
              </a:gs>
              <a:gs pos="35000">
                <a:srgbClr val="0F1419">
                  <a:alpha val="50000"/>
                </a:srgbClr>
              </a:gs>
              <a:gs pos="100000">
                <a:srgbClr val="0F1419">
                  <a:alpha val="1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7465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16000" y="4000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框架设计与能力蓝图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4826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Native DevOps</a:t>
            </a:r>
            <a:r>
              <a:rPr lang="zh-CN" alt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 err="1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的完整能力架构与当前成熟度分析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0" y="469900"/>
            <a:ext cx="2286000" cy="228600"/>
          </a:xfrm>
          <a:prstGeom prst="roundRect">
            <a:avLst>
              <a:gd name="adj" fmla="val 90000"/>
            </a:avLst>
          </a:prstGeom>
          <a:solidFill>
            <a:srgbClr val="0083CB">
              <a:alpha val="5882"/>
            </a:srgbClr>
          </a:solidFill>
          <a:ln w="12700">
            <a:solidFill>
              <a:srgbClr val="0083CB">
                <a:alpha val="21961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5600" y="4699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kern="0" spc="50" dirty="0">
                <a:solidFill>
                  <a:srgbClr val="0083CB"/>
                </a:solidFill>
                <a:latin typeface="+mn-ea"/>
                <a:cs typeface="Liter" pitchFamily="34" charset="-120"/>
              </a:rPr>
              <a:t>AI NATIVE DEVOPS PANORAMA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5600" y="749300"/>
            <a:ext cx="863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AI Native DevOps 全景图</a:t>
            </a:r>
            <a:endParaRPr lang="en-US" sz="16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5600" y="120650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用一张图同时回答业务为什么投、流程如何运转、AI 在哪里增强、人工在哪里拍板、治理靠什么兜底。</a:t>
            </a:r>
            <a:endParaRPr lang="en-US" sz="16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398000" y="469900"/>
            <a:ext cx="6451600" cy="1117600"/>
          </a:xfrm>
          <a:prstGeom prst="roundRect">
            <a:avLst>
              <a:gd name="adj" fmla="val 12000"/>
            </a:avLst>
          </a:prstGeom>
          <a:solidFill>
            <a:srgbClr val="FFFFFF">
              <a:alpha val="92157"/>
            </a:srgbClr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033">
                <a:alpha val="7843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50400" y="546100"/>
            <a:ext cx="254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kern="0" spc="40" dirty="0">
                <a:solidFill>
                  <a:srgbClr val="0083CB"/>
                </a:solidFill>
                <a:latin typeface="+mn-ea"/>
                <a:cs typeface="Liter" pitchFamily="34" charset="-120"/>
              </a:rPr>
              <a:t>决策者摘要</a:t>
            </a:r>
            <a:endParaRPr lang="en-US" sz="16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50400" y="774700"/>
            <a:ext cx="6146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02033"/>
                </a:solidFill>
                <a:latin typeface="+mn-ea"/>
                <a:cs typeface="Liter" pitchFamily="34" charset="-120"/>
              </a:rPr>
              <a:t>这不是把若干 AI 工具堆进研发流程，而是把目标、流程、责任与治理统一到同一套可验证闭环中：先形成主流程，再提升 AI 增强深度，最后扩展到高级治理与多 Agent 协作。</a:t>
            </a:r>
            <a:endParaRPr lang="en-US" sz="16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5600" y="1689100"/>
            <a:ext cx="15544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333">
                <a:alpha val="7059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5600" y="1968500"/>
            <a:ext cx="15544800" cy="0"/>
          </a:xfrm>
          <a:prstGeom prst="straightConnector1">
            <a:avLst/>
          </a:prstGeom>
          <a:noFill/>
          <a:ln w="12700">
            <a:solidFill>
              <a:srgbClr val="D6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8000" y="1714500"/>
            <a:ext cx="825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kern="0" spc="60" dirty="0">
                <a:solidFill>
                  <a:srgbClr val="0B5CAB"/>
                </a:solidFill>
                <a:latin typeface="+mn-ea"/>
                <a:cs typeface="Liter" pitchFamily="34" charset="-120"/>
              </a:rPr>
              <a:t>LAYER 1</a:t>
            </a:r>
            <a:endParaRPr lang="en-US" sz="16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97000" y="16891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5CAB"/>
                </a:solidFill>
                <a:latin typeface="+mn-ea"/>
                <a:cs typeface="Liter" pitchFamily="34" charset="-120"/>
              </a:rPr>
              <a:t>业务目标与组织收益</a:t>
            </a:r>
            <a:endParaRPr lang="en-US" sz="16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954000" y="17145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回答"为什么要做"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8000" y="2019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2057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交付效率提升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缩短从需求输入到首个可评审工件、可运行实现和可验证结果的周期。</a:t>
            </a:r>
            <a:endParaRPr lang="en-US" sz="160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56100" y="2019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57700" y="2057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一致性增强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降低术语漂移、契约不一致、规范与实现分叉带来的返工。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04200" y="2019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05800" y="2057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风险前置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把歧义、缺陷和安全问题尽量前移到需求、建模和验证阶段。</a:t>
            </a:r>
            <a:endParaRPr lang="en-US" sz="160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052300" y="2019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153900" y="2057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治理可追溯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让每次变更都能追溯到规范、验证、发布和责任归属。</a:t>
            </a:r>
            <a:endParaRPr lang="en-US" sz="1600" dirty="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5600" y="2908300"/>
            <a:ext cx="155448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333">
                <a:alpha val="7059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55600" y="3187700"/>
            <a:ext cx="15544800" cy="0"/>
          </a:xfrm>
          <a:prstGeom prst="straightConnector1">
            <a:avLst/>
          </a:prstGeom>
          <a:noFill/>
          <a:ln w="12700">
            <a:solidFill>
              <a:srgbClr val="D6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8000" y="2933700"/>
            <a:ext cx="825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kern="0" spc="60" dirty="0">
                <a:solidFill>
                  <a:srgbClr val="157347"/>
                </a:solidFill>
                <a:latin typeface="+mn-ea"/>
                <a:cs typeface="Liter" pitchFamily="34" charset="-120"/>
              </a:rPr>
              <a:t>LAYER 2</a:t>
            </a:r>
            <a:endParaRPr lang="en-US" sz="16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97000" y="29083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AI Native DevOps 主流程</a:t>
            </a:r>
            <a:endParaRPr lang="en-US" sz="160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954000" y="29337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回答"流程如何运转"</a:t>
            </a:r>
            <a:endParaRPr lang="en-US" sz="1600" dirty="0">
              <a:latin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8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4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1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需求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自然语言转结构化 PRD、验收标准与约束。</a:t>
            </a:r>
            <a:endParaRPr lang="en-US" sz="160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413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89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2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设计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形成旅程、原型、状态和交互边界。</a:t>
            </a:r>
            <a:endParaRPr lang="en-US" sz="1600" dirty="0">
              <a:latin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18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94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3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建模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识别子域、上下文、聚合与领域规则。</a:t>
            </a:r>
            <a:endParaRPr lang="en-US" sz="1600" dirty="0">
              <a:latin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23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99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4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规范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沉淀为 OpenSpec 变更、任务和契约。</a:t>
            </a:r>
            <a:endParaRPr lang="en-US" sz="1600" dirty="0">
              <a:latin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28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04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5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实现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按规范与任务生成代码、测试与接口更新。</a:t>
            </a:r>
            <a:endParaRPr lang="en-US" sz="1600" dirty="0">
              <a:latin typeface="+mn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033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109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6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验证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执行测试、契约校验、安全扫描与审查。</a:t>
            </a:r>
            <a:endParaRPr lang="en-US" sz="1600" dirty="0">
              <a:latin typeface="+mn-ea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938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014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7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交付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部署、放量、冒烟验证与回滚准备。</a:t>
            </a:r>
            <a:endParaRPr lang="en-US" sz="1600" dirty="0">
              <a:latin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3843000" y="3238500"/>
            <a:ext cx="1790700" cy="8636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EFFAF3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157347">
                <a:alpha val="18039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3919200" y="3276600"/>
            <a:ext cx="1638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57347"/>
                </a:solidFill>
                <a:latin typeface="+mn-ea"/>
                <a:cs typeface="Liter" pitchFamily="34" charset="-120"/>
              </a:rPr>
              <a:t>PHASE 8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0D5C33"/>
                </a:solidFill>
                <a:latin typeface="+mn-ea"/>
                <a:cs typeface="Liter" pitchFamily="34" charset="-120"/>
              </a:rPr>
              <a:t>演进</a:t>
            </a:r>
            <a:endParaRPr lang="en-US" sz="1600" dirty="0"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做影响分析、漂移检测与下一轮变更提案。</a:t>
            </a:r>
            <a:endParaRPr lang="en-US" sz="1600" dirty="0">
              <a:latin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298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203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08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013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918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1823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3728700" y="3670300"/>
            <a:ext cx="114300" cy="0"/>
          </a:xfrm>
          <a:prstGeom prst="straightConnector1">
            <a:avLst/>
          </a:prstGeom>
          <a:noFill/>
          <a:ln w="25400">
            <a:solidFill>
              <a:srgbClr val="157347">
                <a:alpha val="2784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55600" y="4203700"/>
            <a:ext cx="15544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333">
                <a:alpha val="7059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55600" y="4483100"/>
            <a:ext cx="15544800" cy="0"/>
          </a:xfrm>
          <a:prstGeom prst="straightConnector1">
            <a:avLst/>
          </a:prstGeom>
          <a:noFill/>
          <a:ln w="12700">
            <a:solidFill>
              <a:srgbClr val="D6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08000" y="4229100"/>
            <a:ext cx="825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kern="0" spc="60" dirty="0">
                <a:solidFill>
                  <a:srgbClr val="7A52CC"/>
                </a:solidFill>
                <a:latin typeface="+mn-ea"/>
                <a:cs typeface="Liter" pitchFamily="34" charset="-120"/>
              </a:rPr>
              <a:t>LAYER 3</a:t>
            </a:r>
            <a:endParaRPr lang="en-US" sz="1600" dirty="0">
              <a:latin typeface="+mn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397000" y="42037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A52CC"/>
                </a:solidFill>
                <a:latin typeface="+mn-ea"/>
                <a:cs typeface="Liter" pitchFamily="34" charset="-120"/>
              </a:rPr>
              <a:t>AI 增强方式</a:t>
            </a:r>
            <a:endParaRPr lang="en-US" sz="1600" dirty="0">
              <a:latin typeface="+mn-ea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54000" y="42291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回答"AI 在哪里增强"</a:t>
            </a:r>
            <a:endParaRPr lang="en-US" sz="16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8000" y="45339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09600" y="45720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草稿生成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PRD、旅程、领域工件、Spec、代码与测试草稿。</a:t>
            </a:r>
            <a:endParaRPr lang="en-US" sz="1600" dirty="0">
              <a:latin typeface="+mn-ea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356100" y="45339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457700" y="45720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候选方案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子域划分、接口设计、任务拆解与实现路径候选。</a:t>
            </a:r>
            <a:endParaRPr lang="en-US" sz="1600" dirty="0">
              <a:latin typeface="+mn-ea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204200" y="45339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305800" y="45720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自动校验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测试执行、契约差分、安全检查与一致性比对。</a:t>
            </a:r>
            <a:endParaRPr lang="en-US" sz="1600" dirty="0">
              <a:latin typeface="+mn-ea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2052300" y="45339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2153900" y="45720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风险分析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歧义识别、漂移检测、影响分析与回归优先级建议。</a:t>
            </a:r>
            <a:endParaRPr lang="en-US" sz="16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55600" y="5422900"/>
            <a:ext cx="15544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333">
                <a:alpha val="7059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55600" y="5702300"/>
            <a:ext cx="15544800" cy="0"/>
          </a:xfrm>
          <a:prstGeom prst="straightConnector1">
            <a:avLst/>
          </a:prstGeom>
          <a:noFill/>
          <a:ln w="12700">
            <a:solidFill>
              <a:srgbClr val="D6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08000" y="5448300"/>
            <a:ext cx="825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kern="0" spc="60" dirty="0">
                <a:solidFill>
                  <a:srgbClr val="B45F06"/>
                </a:solidFill>
                <a:latin typeface="+mn-ea"/>
                <a:cs typeface="Liter" pitchFamily="34" charset="-120"/>
              </a:rPr>
              <a:t>LAYER 4</a:t>
            </a:r>
            <a:endParaRPr lang="en-US" sz="1600" dirty="0">
              <a:latin typeface="+mn-ea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397000" y="54229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F06"/>
                </a:solidFill>
                <a:latin typeface="+mn-ea"/>
                <a:cs typeface="Liter" pitchFamily="34" charset="-120"/>
              </a:rPr>
              <a:t>人工责任点</a:t>
            </a:r>
            <a:endParaRPr lang="en-US" sz="1600" dirty="0">
              <a:latin typeface="+mn-ea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2954000" y="5448300"/>
            <a:ext cx="279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回答"人在哪里拍板"</a:t>
            </a:r>
            <a:endParaRPr lang="en-US" sz="1600" dirty="0">
              <a:latin typeface="+mn-ea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08000" y="5753100"/>
            <a:ext cx="2921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84200" y="5791200"/>
            <a:ext cx="276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需求确认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确认范围、优先级、验收标准与数据分类。</a:t>
            </a:r>
            <a:endParaRPr lang="en-US" sz="1600" dirty="0">
              <a:latin typeface="+mn-ea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556000" y="5753100"/>
            <a:ext cx="2921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632200" y="5791200"/>
            <a:ext cx="276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模型确认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确认边界、术语、不变量与关键领域假设。</a:t>
            </a:r>
            <a:endParaRPr lang="en-US" sz="1600" dirty="0">
              <a:latin typeface="+mn-ea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604000" y="5753100"/>
            <a:ext cx="2921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680200" y="5791200"/>
            <a:ext cx="276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规范确认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确认异常场景、契约边界与任务范围。</a:t>
            </a:r>
            <a:endParaRPr lang="en-US" sz="1600" dirty="0">
              <a:latin typeface="+mn-ea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9652000" y="5753100"/>
            <a:ext cx="2921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728200" y="5791200"/>
            <a:ext cx="276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上线签署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确认变更风险、门禁结果与发布窗口。</a:t>
            </a:r>
            <a:endParaRPr lang="en-US" sz="1600" dirty="0">
              <a:latin typeface="+mn-ea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2700000" y="5753100"/>
            <a:ext cx="2921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2776200" y="5791200"/>
            <a:ext cx="276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冲突仲裁</a:t>
            </a:r>
            <a:endParaRPr lang="en-US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处理跨团队契约、Agent 分歧与修复方向争议。</a:t>
            </a:r>
            <a:endParaRPr lang="en-US" sz="16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355600" y="6642100"/>
            <a:ext cx="15544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203200" dist="76200" dir="5400000" algn="bl" rotWithShape="0">
              <a:srgbClr val="102333">
                <a:alpha val="7059"/>
              </a:srgbClr>
            </a:outerShdw>
          </a:effec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55600" y="6921500"/>
            <a:ext cx="15544800" cy="0"/>
          </a:xfrm>
          <a:prstGeom prst="straightConnector1">
            <a:avLst/>
          </a:prstGeom>
          <a:noFill/>
          <a:ln w="12700">
            <a:solidFill>
              <a:srgbClr val="D6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508000" y="6667500"/>
            <a:ext cx="8255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b="1" kern="0" spc="60" dirty="0">
                <a:solidFill>
                  <a:srgbClr val="8F1F46"/>
                </a:solidFill>
                <a:latin typeface="+mn-ea"/>
                <a:cs typeface="Liter" pitchFamily="34" charset="-120"/>
              </a:rPr>
              <a:t>LAYER 5</a:t>
            </a:r>
            <a:endParaRPr lang="en-US" sz="1600" dirty="0">
              <a:latin typeface="+mn-ea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397000" y="66421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F1F46"/>
                </a:solidFill>
                <a:latin typeface="+mn-ea"/>
                <a:cs typeface="Liter" pitchFamily="34" charset="-120"/>
              </a:rPr>
              <a:t>治理底座</a:t>
            </a:r>
            <a:endParaRPr lang="en-US" sz="1600" dirty="0">
              <a:latin typeface="+mn-ea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2446000" y="6667500"/>
            <a:ext cx="330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回答"靠什么保证不失控"</a:t>
            </a:r>
            <a:endParaRPr lang="en-US" sz="1600" dirty="0">
              <a:latin typeface="+mn-ea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508000" y="6972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09600" y="7010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统一事实源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文档、规范与代码围绕同一套仓库工件协同演进。</a:t>
            </a:r>
            <a:endParaRPr lang="en-US" sz="16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356100" y="6972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4457700" y="7010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自动验证与门禁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把测试、契约、安全与审查结论串成固定关卡。</a:t>
            </a:r>
            <a:endParaRPr lang="en-US" sz="1600" dirty="0">
              <a:latin typeface="+mn-ea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8204200" y="6972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8305800" y="7010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安全与合规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把数据分类、权限模型、扫描与审计记录纳入主线。</a:t>
            </a:r>
            <a:endParaRPr lang="en-US" sz="1600" dirty="0">
              <a:latin typeface="+mn-ea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2052300" y="6972300"/>
            <a:ext cx="36957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9FBFD"/>
              </a:gs>
            </a:gsLst>
            <a:lin ang="5400000" scaled="1"/>
          </a:gra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2153900" y="7010400"/>
            <a:ext cx="349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指标与反馈闭环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用效率、一致性、风险和运行反馈持续校准流程。</a:t>
            </a:r>
            <a:endParaRPr lang="en-US" sz="1600" dirty="0">
              <a:latin typeface="+mn-ea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355600" y="7937500"/>
            <a:ext cx="5041900" cy="965200"/>
          </a:xfrm>
          <a:prstGeom prst="roundRect">
            <a:avLst>
              <a:gd name="adj" fmla="val 10000"/>
            </a:avLst>
          </a:prstGeom>
          <a:solidFill>
            <a:srgbClr val="FFFFFF">
              <a:alpha val="90196"/>
            </a:srgbClr>
          </a:soli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508000" y="8013700"/>
            <a:ext cx="4737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管理层视角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把 AI Native DevOps 看成目标牵引的流程升级，而不是单点引入若干 AI 工具。</a:t>
            </a:r>
            <a:endParaRPr lang="en-US" sz="1600" dirty="0">
              <a:latin typeface="+mn-ea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613400" y="7937500"/>
            <a:ext cx="5041900" cy="965200"/>
          </a:xfrm>
          <a:prstGeom prst="roundRect">
            <a:avLst>
              <a:gd name="adj" fmla="val 10000"/>
            </a:avLst>
          </a:prstGeom>
          <a:solidFill>
            <a:srgbClr val="FFFFFF">
              <a:alpha val="90196"/>
            </a:srgbClr>
          </a:soli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5765800" y="8013700"/>
            <a:ext cx="4737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治理视角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先固化主流程与责任边界，再提升 AI 增强深度，最后再扩展多 Agent 协作。</a:t>
            </a:r>
            <a:endParaRPr lang="en-US" sz="1600" dirty="0">
              <a:latin typeface="+mn-ea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0871200" y="7937500"/>
            <a:ext cx="5029200" cy="965200"/>
          </a:xfrm>
          <a:prstGeom prst="roundRect">
            <a:avLst>
              <a:gd name="adj" fmla="val 10000"/>
            </a:avLst>
          </a:prstGeom>
          <a:solidFill>
            <a:srgbClr val="FFFFFF">
              <a:alpha val="90196"/>
            </a:srgbClr>
          </a:solidFill>
          <a:ln w="1270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1023600" y="8013700"/>
            <a:ext cx="4724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02033"/>
                </a:solidFill>
                <a:latin typeface="+mn-ea"/>
                <a:cs typeface="Liter" pitchFamily="34" charset="-120"/>
              </a:rPr>
              <a:t>使用方式</a:t>
            </a:r>
            <a:endParaRPr lang="en-US" sz="1600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56667A"/>
                </a:solidFill>
                <a:latin typeface="+mn-ea"/>
                <a:cs typeface="Liter" pitchFamily="34" charset="-120"/>
              </a:rPr>
              <a:t>可直接浏览 HTML，也可在桌面端打开后手工截图，作为文档或汇报材料插图。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框架设计与能力蓝图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当前最强中段链路，需补齐两端与治理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857997"/>
        </p:xfrm>
        <a:graphic>
          <a:graphicData uri="http://schemas.openxmlformats.org/drawingml/2006/table">
            <a:tbl>
              <a:tblPr/>
              <a:tblGrid>
                <a:gridCol w="235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326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阶段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当前状态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AI辅助重点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主要缺口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建议补强方向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1 愿景→PRD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缺失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需求结构化、验收标准补全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需求模板、安全需求识别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内部PRD Agent、本地化LLM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2 PRD→UI/UX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缺失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旅程草拟、原型草稿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设计上下文沉淀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设计上下文接入与原型工具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3 领域模型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事件提取、边界拆分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依赖前置输入质量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复用现有DDD主线并强化复核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4 规格定义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Spec草稿、任务拆解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契约统一、边界显式化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强化DDD到OpenSpec桥接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5 实现与测试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A8A0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部分已有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代码与测试草稿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OpenAPI基线、测试先行约束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最小必需契约+任务模板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6 质量保障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A8A0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部分已有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自动验证、AI审查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安全、性能门禁未整合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分层门禁与双签上线机制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7 部署交付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缺失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脚本生成、部署模板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可重复部署、回滚验证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补齐交付模板与发布规则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 8 变更演进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已有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漂移检测、影响分析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回归优先级标准化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高级治理与AI风险预测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框架设计与能力蓝图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5层目标架构：规范为中心、验证为约束、人工为兜底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16000" y="177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171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需求入口层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09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愿景 / PRD / UI-UX → 结构化需求输出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0" y="177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萃取结构、补全字段、发现歧义</a:t>
            </a: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zh-CN" alt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300" dirty="0" err="1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</a:t>
            </a: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确认范围、优先级、验收标准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4500" y="2659772"/>
            <a:ext cx="127000" cy="142045"/>
          </a:xfrm>
          <a:prstGeom prst="triangle">
            <a:avLst>
              <a:gd name="adj" fmla="val 50000"/>
            </a:avLst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62000" y="2857500"/>
            <a:ext cx="14732000" cy="1016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6000" y="304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298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领域建模层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51000" y="336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DDD Skills → 子域 / 限界上下文 / 聚合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304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生成候选模型、比对术语</a:t>
            </a:r>
            <a:r>
              <a:rPr lang="zh-CN" alt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</a:t>
            </a:r>
            <a:r>
              <a:rPr lang="en-US" sz="1300" dirty="0" err="1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确认核心域、边界、聚合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64500" y="3929772"/>
            <a:ext cx="127000" cy="142045"/>
          </a:xfrm>
          <a:prstGeom prst="triangle">
            <a:avLst>
              <a:gd name="adj" fmla="val 50000"/>
            </a:avLst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62000" y="4127500"/>
            <a:ext cx="14732000" cy="1016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16000" y="431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425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规范层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51000" y="4635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OpenSpec changes / specs / tasks / proposal /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0" y="431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生成规范草稿、补全场景</a:t>
            </a: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zh-CN" alt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</a:t>
            </a:r>
            <a:r>
              <a:rPr lang="en-US" sz="1300" dirty="0" err="1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确认边界、异常场景、任务范围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64500" y="5199772"/>
            <a:ext cx="127000" cy="142045"/>
          </a:xfrm>
          <a:prstGeom prst="triangle">
            <a:avLst>
              <a:gd name="adj" fmla="val 50000"/>
            </a:avLst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62000" y="5397500"/>
            <a:ext cx="14732000" cy="1016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16000" y="558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5524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实现与验证层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51000" y="5905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/opsx:apply + code generation → validate / tests / 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0" y="558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生成实现候选、聚合测试结果</a:t>
            </a: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zh-CN" alt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</a:t>
            </a:r>
            <a:r>
              <a:rPr lang="en-US" sz="1300" dirty="0" err="1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审核关键实现、签署上线结论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4500" y="6469772"/>
            <a:ext cx="127000" cy="142045"/>
          </a:xfrm>
          <a:prstGeom prst="triangle">
            <a:avLst>
              <a:gd name="adj" fmla="val 50000"/>
            </a:avLst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62000" y="6667500"/>
            <a:ext cx="14732000" cy="1016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16000" y="6858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51000" y="6794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交付与运行反馈层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51000" y="7175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CI-CD / deploy / smoke test → incident / metrics / change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90000" y="685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生成脚本、归纳告警模式</a:t>
            </a: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zh-CN" alt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300" dirty="0" err="1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</a:t>
            </a:r>
            <a:r>
              <a:rPr lang="zh-CN" altLang="en-US" sz="1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r>
              <a:rPr lang="en-US" sz="1300" dirty="0" err="1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审批发布窗口、执行事故处置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flipV="1">
            <a:off x="2540000" y="7683500"/>
            <a:ext cx="0" cy="698500"/>
          </a:xfrm>
          <a:prstGeom prst="straightConnector1">
            <a:avLst/>
          </a:prstGeom>
          <a:noFill/>
          <a:ln w="12700">
            <a:solidFill>
              <a:srgbClr val="D4A853"/>
            </a:solidFill>
            <a:prstDash val="sysDot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5080000" y="7683500"/>
            <a:ext cx="0" cy="952500"/>
          </a:xfrm>
          <a:prstGeom prst="straightConnector1">
            <a:avLst/>
          </a:prstGeom>
          <a:noFill/>
          <a:ln w="12700">
            <a:solidFill>
              <a:srgbClr val="D4A853"/>
            </a:solidFill>
            <a:prstDash val="sysDot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588000" y="793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反馈回路 → 规范层 / 建模层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okc/346u54tcs7yz4/mnt/agents/output/ai-native-devops/images/5_20_437_Dark_Road_Map_Royalty_Free.png"/>
          <p:cNvPicPr>
            <a:picLocks noChangeAspect="1"/>
          </p:cNvPicPr>
          <p:nvPr/>
        </p:nvPicPr>
        <p:blipFill>
          <a:blip r:embed="rId3"/>
          <a:srcRect l="23333" r="23333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1000"/>
                </a:srgbClr>
              </a:gs>
              <a:gs pos="35000">
                <a:srgbClr val="0F1419">
                  <a:alpha val="50000"/>
                </a:srgbClr>
              </a:gs>
              <a:gs pos="100000">
                <a:srgbClr val="0F1419">
                  <a:alpha val="1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7465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16000" y="4000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实施路线与里程碑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48260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分阶段、可验证的落地路径与关键里程碑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实施路线与里程碑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先打通闭环，再补齐入口，最后扩展治理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4699000" cy="6858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4699000" cy="571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2000" y="1587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P0 最高优先级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优先补强实现与验收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984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核心目标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直接决定Spec能否持续转化为稳定实现，并在进入交付前完成可重复验证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三项行动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确定最小必需契约——核心API收敛到OpenAPI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强化任务模板——tasks.md显式写出测试、实现、重构与验证命令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建立验收门禁——openspec validate + 自动化测试 + 安全检查 + 人工双签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685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778500" y="1587500"/>
            <a:ext cx="4699000" cy="5715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778500" y="1587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 次高优先级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补齐需求与设计入口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984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核心目标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补齐进入DDD之前的稳定输入面，降低前置输入质量波动对建模的影响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三项行动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补PRD模板——统一问题陈述、目标、范围、验收标准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补设计上下文——用户旅程、界面状态纳入建模输入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控制自动化预期——设计到代码工具作为语义桥接层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587500"/>
            <a:ext cx="4699000" cy="685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795000" y="1587500"/>
            <a:ext cx="4699000" cy="57150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795000" y="1587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 长期建设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2413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交付能力与演进治理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984500"/>
            <a:ext cx="406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核心目标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补齐部署交付末端缺口，建设变更演进的长期治理能力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4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三项行动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最小可行部署链路——制品封装、环境模板、回滚脚本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AI辅助漂移检测——Spec与代码差异自动比对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影响分析与风险预测——结合历史变更数据预测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实施路线与里程碑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四阶段路线图：从最小闭环到多Agent协作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14732000" cy="508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159000" y="2120900"/>
            <a:ext cx="254000" cy="2540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61000" y="2120900"/>
            <a:ext cx="254000" cy="2540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63000" y="2120900"/>
            <a:ext cx="254000" cy="2540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2065000" y="2120900"/>
            <a:ext cx="254000" cy="2540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62000" y="2667000"/>
            <a:ext cx="3429000" cy="558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3274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建立最小闭环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835400"/>
            <a:ext cx="2921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4/5/6 最小可用链路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OpenSpec项目模板、tasks.md任务模板、基础测试模板、openspec validate门禁脚本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验收标准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新需求可在不脱离规范主线的前提下完成变更→实现→验证→归档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0" y="2667000"/>
            <a:ext cx="3429000" cy="558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625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0" y="33274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补齐需求与设计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3835400"/>
            <a:ext cx="2921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1/2 输入模板与协作机制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PRD模板、验收标准模板、用户旅程模板、界面状态说明模板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验收标准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新需求进入建模前可提供结构化PRD与最小设计上下文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2667000"/>
            <a:ext cx="3429000" cy="558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5090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33274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标准化交付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3835400"/>
            <a:ext cx="2921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7 部署与运行反馈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部署模板、环境变量规范、冒烟测试脚本、回滚脚本、漂移检测脚本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验收标准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每次变更上线可关联到规范、代码、测试与部署记录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001500" y="2667000"/>
            <a:ext cx="3429000" cy="558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22555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55500" y="33274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多Agent协作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3835400"/>
            <a:ext cx="2921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范围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需求/DDD/Spec/实现/测试/审查Agent拆分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交付物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统一消息协议、上下文传递规则、失败回退策略、质量指标仪表板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验收标准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Agent间上下文切换不会导致规范漂移或责任不清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实施路线与里程碑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4大里程碑：从规范主链路到治理闭环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7048500" cy="63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9500" y="1968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2032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打通规范主链路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667000"/>
            <a:ext cx="6413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关键产物：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OpenSpec模板、任务模板、验证脚本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成功判据：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单个变更可完成"规范→实现→验证→归档"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6510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445500" y="1651000"/>
            <a:ext cx="7048500" cy="63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763000" y="1968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42500" y="2032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稳定需求输入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2667000"/>
            <a:ext cx="6413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关键产物：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PRD模板、验收模板、设计输入模板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成功判据：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新需求进入建模前不再缺少最小输入集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2705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62000" y="5270500"/>
            <a:ext cx="7048500" cy="63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79500" y="558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59000" y="5651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建立交付能力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6286500"/>
            <a:ext cx="6413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关键产物：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部署模板、冒烟测试、回滚脚本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成功判据：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变更可重复部署并具备回滚路径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52705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45500" y="5270500"/>
            <a:ext cx="7048500" cy="63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63000" y="5588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42500" y="5651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强化治理闭环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6286500"/>
            <a:ext cx="6413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关键产物：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AI贡献度指标、漂移检测、Agent协作规则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成功判据：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规范返工率和变更遗漏率可度量、可下降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0F141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https://kimi-img.moonshot.cn/pub/slides/okc/346u54tcs7yz4/mnt/agents/output/ai-native-devops/images/10_Abstract_futuristic_technology_network.png"/>
          <p:cNvPicPr>
            <a:picLocks noChangeAspect="1"/>
          </p:cNvPicPr>
          <p:nvPr/>
        </p:nvPicPr>
        <p:blipFill>
          <a:blip r:embed="rId3"/>
          <a:srcRect l="19499" r="19499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1000"/>
                </a:srgbClr>
              </a:gs>
              <a:gs pos="35000">
                <a:srgbClr val="0F1419">
                  <a:alpha val="50000"/>
                </a:srgbClr>
              </a:gs>
              <a:gs pos="100000">
                <a:srgbClr val="0F1419">
                  <a:alpha val="19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746500"/>
            <a:ext cx="762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016000" y="4000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治理机制与价值度量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4826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人机协同的治理框架与可量化的价值度量体系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治理机制与价值度量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人机协同：AI负责草稿与校验，人工负责决策与兜底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857997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26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阶段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 负责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人工负责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0F0F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异常处理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需求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生成PRD草稿、补全验收标准、标记歧义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确认范围、优先级、验收标准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回到需求澄清，修订PRD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设计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生成旅程草稿、原型草稿、组件骨架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确认关键旅程、交互与设计约束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回退到Product/Design联合修订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建模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提供子域、上下文与聚合候选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确认边界、不变量与术语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回退到建模评审，重做边界划分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规范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生成OpenSpec草稿与任务拆解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确认能力范围、异常场景与任务边界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修订proposal.md、design.md或tasks.md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实现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生成代码与测试候选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审核关键实现与合并结论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测试失败时回退到任务或规范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验证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运行测试、契约校验、安全检查与AI审查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确认是否满足上线门禁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不通过则阻断上线并回写问题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交付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生成脚本、冒烟步骤与回滚草稿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批准发布与执行事故处理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回滚或暂停放量，更新规范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演进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检测漂移、分析影响、生成提案草稿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决定修规范还是修实现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F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形成新变更提案并进入下一轮闭环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1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治理机制与价值度量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四维价值度量：效率、一致性、风险前置与AI贡献度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7048500" cy="3302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63500" cy="3302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65225" y="187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51000" y="187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生成效率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765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PRD初稿生成时间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首版Spec产出时间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测试草稿生成时间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首个可运行实现产出时间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衡量从"空白页"到"可审阅初稿"的时间压缩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587500"/>
            <a:ext cx="7048500" cy="33020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445500" y="1587500"/>
            <a:ext cx="63500" cy="33020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804275" y="187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34500" y="187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一致性保障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6500" y="24765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术语漂移率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契约差分次数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规范返工率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漂移修复时延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衡量跨阶段语义一致性提升程度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2070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62000" y="5207000"/>
            <a:ext cx="63500" cy="3238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549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51000" y="5499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风险前置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0706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需求阶段发现的关键歧义数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上线前发现的高风险问题数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AI风险预测命中率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衡量问题发现时点前移的效果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5207000"/>
            <a:ext cx="7048500" cy="3238500"/>
          </a:xfrm>
          <a:prstGeom prst="rect">
            <a:avLst/>
          </a:prstGeom>
          <a:solidFill>
            <a:srgbClr val="1E25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45500" y="5207000"/>
            <a:ext cx="63500" cy="32385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782050" y="5499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334500" y="5499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AI贡献度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26500" y="60706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AI草稿直接采纳率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需求澄清缩短幅度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AI发现问题占比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人工回退率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衡量AI是否真正创造可感知价值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46u54tcs7yz4/mnt/agents/output/ai-native-devops/images/2_Abstract_Dark_Blue_Technology_Background.png"/>
          <p:cNvPicPr>
            <a:picLocks noChangeAspect="1"/>
          </p:cNvPicPr>
          <p:nvPr/>
        </p:nvPicPr>
        <p:blipFill>
          <a:blip r:embed="rId3"/>
          <a:srcRect l="194" r="1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91000"/>
                </a:srgbClr>
              </a:gs>
              <a:gs pos="50000">
                <a:srgbClr val="0F1419">
                  <a:alpha val="82000"/>
                </a:srgbClr>
              </a:gs>
              <a:gs pos="100000">
                <a:srgbClr val="0F1419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2032000" y="330200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以规范为中心，以验证为约束，以人工为兜底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31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Native DevOps不是工具堆叠，而是目标牵引的流程升级与治理能力体系建设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588000"/>
            <a:ext cx="2540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318000" y="5905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建议从最小闭环试点，逐步扩展至全流程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711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Native DevOps 战略规划 | 2026年5月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1179</Words>
  <Application>Microsoft Macintosh PowerPoint</Application>
  <PresentationFormat>自定义</PresentationFormat>
  <Paragraphs>365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FangSong</vt:lpstr>
      <vt:lpstr>Liter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DevOps：人机协同的工程变革框架</dc:title>
  <dc:subject>AI Native DevOps：人机协同的工程变革框架</dc:subject>
  <dc:creator>Kimi</dc:creator>
  <cp:lastModifiedBy>王 天青</cp:lastModifiedBy>
  <cp:revision>13</cp:revision>
  <dcterms:created xsi:type="dcterms:W3CDTF">2026-05-14T05:05:22Z</dcterms:created>
  <dcterms:modified xsi:type="dcterms:W3CDTF">2026-05-14T14:27:06Z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Native DevOps：人机协同的工程变革框架","ContentProducer":"001191110108MACG2KBH8F10000","ProduceID":"19e24d69-ed12-8792-8000-000071876a73","ReservedCode1":"","ContentPropagator":"001191110108MACG2KBH8F20000","PropagateID":"19e24d69-ed12-8792-8000-000071876a73","ReservedCode2":""}</vt:lpwstr>
  </property>
</Properties>
</file>